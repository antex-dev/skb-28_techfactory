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Intro Rust" panose="020B0604020202020204" charset="0"/>
      <p:regular r:id="rId8"/>
    </p:embeddedFont>
    <p:embeddedFont>
      <p:font typeface="Lastica" panose="020B0604020202020204" charset="0"/>
      <p:regular r:id="rId9"/>
    </p:embeddedFont>
    <p:embeddedFont>
      <p:font typeface="Poppins Bold" panose="00000800000000000000" pitchFamily="2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38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503435"/>
            <a:ext cx="18288000" cy="11186521"/>
          </a:xfrm>
          <a:custGeom>
            <a:avLst/>
            <a:gdLst/>
            <a:ahLst/>
            <a:cxnLst/>
            <a:rect l="l" t="t" r="r" b="b"/>
            <a:pathLst>
              <a:path w="18288000" h="11186521">
                <a:moveTo>
                  <a:pt x="18288000" y="0"/>
                </a:moveTo>
                <a:lnTo>
                  <a:pt x="0" y="0"/>
                </a:lnTo>
                <a:lnTo>
                  <a:pt x="0" y="11186521"/>
                </a:lnTo>
                <a:lnTo>
                  <a:pt x="18288000" y="11186521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241279" r="-24127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27719" y="-503435"/>
            <a:ext cx="17632563" cy="2482798"/>
          </a:xfrm>
          <a:custGeom>
            <a:avLst/>
            <a:gdLst/>
            <a:ahLst/>
            <a:cxnLst/>
            <a:rect l="l" t="t" r="r" b="b"/>
            <a:pathLst>
              <a:path w="17632563" h="2482798">
                <a:moveTo>
                  <a:pt x="0" y="0"/>
                </a:moveTo>
                <a:lnTo>
                  <a:pt x="17632562" y="0"/>
                </a:lnTo>
                <a:lnTo>
                  <a:pt x="17632562" y="2482798"/>
                </a:lnTo>
                <a:lnTo>
                  <a:pt x="0" y="2482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5648" r="-6376" b="-40711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465283" y="1242791"/>
            <a:ext cx="7802345" cy="230761"/>
          </a:xfrm>
          <a:custGeom>
            <a:avLst/>
            <a:gdLst/>
            <a:ahLst/>
            <a:cxnLst/>
            <a:rect l="l" t="t" r="r" b="b"/>
            <a:pathLst>
              <a:path w="7802345" h="230761">
                <a:moveTo>
                  <a:pt x="0" y="0"/>
                </a:moveTo>
                <a:lnTo>
                  <a:pt x="7802345" y="0"/>
                </a:lnTo>
                <a:lnTo>
                  <a:pt x="7802345" y="230762"/>
                </a:lnTo>
                <a:lnTo>
                  <a:pt x="0" y="2307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52658" b="-2213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040242" y="209857"/>
            <a:ext cx="1096925" cy="1096925"/>
          </a:xfrm>
          <a:custGeom>
            <a:avLst/>
            <a:gdLst/>
            <a:ahLst/>
            <a:cxnLst/>
            <a:rect l="l" t="t" r="r" b="b"/>
            <a:pathLst>
              <a:path w="1096925" h="1096925">
                <a:moveTo>
                  <a:pt x="0" y="0"/>
                </a:moveTo>
                <a:lnTo>
                  <a:pt x="1096925" y="0"/>
                </a:lnTo>
                <a:lnTo>
                  <a:pt x="1096925" y="1096925"/>
                </a:lnTo>
                <a:lnTo>
                  <a:pt x="0" y="1096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10032" y="318150"/>
            <a:ext cx="1155403" cy="1155403"/>
          </a:xfrm>
          <a:custGeom>
            <a:avLst/>
            <a:gdLst/>
            <a:ahLst/>
            <a:cxnLst/>
            <a:rect l="l" t="t" r="r" b="b"/>
            <a:pathLst>
              <a:path w="1155403" h="1155403">
                <a:moveTo>
                  <a:pt x="0" y="0"/>
                </a:moveTo>
                <a:lnTo>
                  <a:pt x="1155403" y="0"/>
                </a:lnTo>
                <a:lnTo>
                  <a:pt x="1155403" y="1155403"/>
                </a:lnTo>
                <a:lnTo>
                  <a:pt x="0" y="11554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10" t="-28500" b="-27400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05853" y="193061"/>
            <a:ext cx="2072115" cy="1335881"/>
          </a:xfrm>
          <a:custGeom>
            <a:avLst/>
            <a:gdLst/>
            <a:ahLst/>
            <a:cxnLst/>
            <a:rect l="l" t="t" r="r" b="b"/>
            <a:pathLst>
              <a:path w="2072115" h="1335881">
                <a:moveTo>
                  <a:pt x="0" y="0"/>
                </a:moveTo>
                <a:lnTo>
                  <a:pt x="2072115" y="0"/>
                </a:lnTo>
                <a:lnTo>
                  <a:pt x="2072115" y="1335882"/>
                </a:lnTo>
                <a:lnTo>
                  <a:pt x="0" y="13358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954414" y="1426006"/>
            <a:ext cx="11812846" cy="351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sz="1927" spc="59">
                <a:solidFill>
                  <a:srgbClr val="EEF8FD"/>
                </a:solidFill>
                <a:latin typeface="Lastica"/>
                <a:ea typeface="Lastica"/>
                <a:cs typeface="Lastica"/>
                <a:sym typeface="Lastica"/>
              </a:rPr>
              <a:t>DEPARTMENT OF COMPUTER SCIENCE AND ENGINEERING &amp; III CELL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198893" y="3108361"/>
            <a:ext cx="5761389" cy="4757813"/>
            <a:chOff x="0" y="0"/>
            <a:chExt cx="7681852" cy="6343750"/>
          </a:xfrm>
        </p:grpSpPr>
        <p:sp>
          <p:nvSpPr>
            <p:cNvPr id="13" name="Freeform 13"/>
            <p:cNvSpPr/>
            <p:nvPr/>
          </p:nvSpPr>
          <p:spPr>
            <a:xfrm>
              <a:off x="566254" y="0"/>
              <a:ext cx="6549344" cy="5042537"/>
            </a:xfrm>
            <a:custGeom>
              <a:avLst/>
              <a:gdLst/>
              <a:ahLst/>
              <a:cxnLst/>
              <a:rect l="l" t="t" r="r" b="b"/>
              <a:pathLst>
                <a:path w="6549344" h="5042537">
                  <a:moveTo>
                    <a:pt x="0" y="0"/>
                  </a:moveTo>
                  <a:lnTo>
                    <a:pt x="6549344" y="0"/>
                  </a:lnTo>
                  <a:lnTo>
                    <a:pt x="6549344" y="5042537"/>
                  </a:lnTo>
                  <a:lnTo>
                    <a:pt x="0" y="5042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089" t="-31562" r="-2613" b="-82297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5432684"/>
              <a:ext cx="7681852" cy="911067"/>
            </a:xfrm>
            <a:custGeom>
              <a:avLst/>
              <a:gdLst/>
              <a:ahLst/>
              <a:cxnLst/>
              <a:rect l="l" t="t" r="r" b="b"/>
              <a:pathLst>
                <a:path w="7681852" h="911067">
                  <a:moveTo>
                    <a:pt x="0" y="0"/>
                  </a:moveTo>
                  <a:lnTo>
                    <a:pt x="7681852" y="0"/>
                  </a:lnTo>
                  <a:lnTo>
                    <a:pt x="7681852" y="911066"/>
                  </a:lnTo>
                  <a:lnTo>
                    <a:pt x="0" y="91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499" t="-819749" b="-377429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5034699" y="-253075"/>
            <a:ext cx="9732561" cy="1495866"/>
          </a:xfrm>
          <a:custGeom>
            <a:avLst/>
            <a:gdLst/>
            <a:ahLst/>
            <a:cxnLst/>
            <a:rect l="l" t="t" r="r" b="b"/>
            <a:pathLst>
              <a:path w="9732561" h="1495866">
                <a:moveTo>
                  <a:pt x="0" y="0"/>
                </a:moveTo>
                <a:lnTo>
                  <a:pt x="9732561" y="0"/>
                </a:lnTo>
                <a:lnTo>
                  <a:pt x="9732561" y="1495866"/>
                </a:lnTo>
                <a:lnTo>
                  <a:pt x="0" y="14958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5599" r="-2087" b="-30169"/>
            </a:stretch>
          </a:blipFill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DCEED4-9F7E-DAB2-9D5F-B5C51CA852B9}"/>
              </a:ext>
            </a:extLst>
          </p:cNvPr>
          <p:cNvSpPr txBox="1"/>
          <p:nvPr/>
        </p:nvSpPr>
        <p:spPr>
          <a:xfrm>
            <a:off x="725081" y="2227573"/>
            <a:ext cx="12152720" cy="647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Problem Statement ID –SKB-P4</a:t>
            </a:r>
          </a:p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r>
              <a:rPr lang="en-US" sz="28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Problem Statement Title –Stochastic Multi Modal Fusion for "Cloud Proof" </a:t>
            </a:r>
            <a:r>
              <a:rPr lang="en-US" sz="28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dMRV</a:t>
            </a:r>
            <a:r>
              <a:rPr lang="en-US" sz="28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and Methane Aware Carbon Governance</a:t>
            </a:r>
          </a:p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Theme -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Tech &amp; Sustainable Environment (AI, Remote Sensing, IoT, Data Science)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PS Category – PS-4</a:t>
            </a:r>
          </a:p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Team ID – SKB-28</a:t>
            </a:r>
          </a:p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Team Name = Team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Gotham Bold"/>
              </a:rPr>
              <a:t>Idea factory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  <a:p>
            <a:pPr marL="305855" lvl="1" algn="just">
              <a:lnSpc>
                <a:spcPct val="150000"/>
              </a:lnSpc>
            </a:pP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746" y="1572245"/>
            <a:ext cx="17128507" cy="8308731"/>
            <a:chOff x="0" y="0"/>
            <a:chExt cx="842733" cy="408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2733" cy="408795"/>
            </a:xfrm>
            <a:custGeom>
              <a:avLst/>
              <a:gdLst/>
              <a:ahLst/>
              <a:cxnLst/>
              <a:rect l="l" t="t" r="r" b="b"/>
              <a:pathLst>
                <a:path w="842733" h="408795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77406" y="3254154"/>
            <a:ext cx="4276565" cy="3778691"/>
            <a:chOff x="0" y="0"/>
            <a:chExt cx="5702087" cy="5038255"/>
          </a:xfrm>
        </p:grpSpPr>
        <p:sp>
          <p:nvSpPr>
            <p:cNvPr id="6" name="Freeform 6"/>
            <p:cNvSpPr/>
            <p:nvPr/>
          </p:nvSpPr>
          <p:spPr>
            <a:xfrm>
              <a:off x="420319" y="0"/>
              <a:ext cx="4861448" cy="4004822"/>
            </a:xfrm>
            <a:custGeom>
              <a:avLst/>
              <a:gdLst/>
              <a:ahLst/>
              <a:cxnLst/>
              <a:rect l="l" t="t" r="r" b="b"/>
              <a:pathLst>
                <a:path w="4861448" h="4004822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4314679"/>
              <a:ext cx="5702087" cy="723576"/>
            </a:xfrm>
            <a:custGeom>
              <a:avLst/>
              <a:gdLst/>
              <a:ahLst/>
              <a:cxnLst/>
              <a:rect l="l" t="t" r="r" b="b"/>
              <a:pathLst>
                <a:path w="5702087" h="723576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b="-34948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686012" y="287186"/>
            <a:ext cx="1062335" cy="1076626"/>
          </a:xfrm>
          <a:custGeom>
            <a:avLst/>
            <a:gdLst/>
            <a:ahLst/>
            <a:cxnLst/>
            <a:rect l="l" t="t" r="r" b="b"/>
            <a:pathLst>
              <a:path w="1062335" h="1076626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86373" y="213427"/>
            <a:ext cx="15806860" cy="1285059"/>
            <a:chOff x="0" y="0"/>
            <a:chExt cx="21075813" cy="1713411"/>
          </a:xfrm>
        </p:grpSpPr>
        <p:sp>
          <p:nvSpPr>
            <p:cNvPr id="10" name="Freeform 10"/>
            <p:cNvSpPr/>
            <p:nvPr/>
          </p:nvSpPr>
          <p:spPr>
            <a:xfrm>
              <a:off x="0" y="98345"/>
              <a:ext cx="6051549" cy="1542121"/>
            </a:xfrm>
            <a:custGeom>
              <a:avLst/>
              <a:gdLst/>
              <a:ahLst/>
              <a:cxnLst/>
              <a:rect l="l" t="t" r="r" b="b"/>
              <a:pathLst>
                <a:path w="6051549" h="1542121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2625" y="342179"/>
              <a:ext cx="4136332" cy="9662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</a:t>
              </a:r>
            </a:p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IDEA FACTORY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0967" cy="63226"/>
              </a:xfrm>
              <a:custGeom>
                <a:avLst/>
                <a:gdLst/>
                <a:ahLst/>
                <a:cxnLst/>
                <a:rect l="l" t="t" r="r" b="b"/>
                <a:pathLst>
                  <a:path w="540967" h="63226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98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9268836" y="255116"/>
              <a:ext cx="8871083" cy="1372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1"/>
                </a:lnSpc>
              </a:pPr>
              <a:r>
                <a:rPr lang="en-US" sz="35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solution to the problem statement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9ABD2C8-F7B3-37C6-E17C-443AD7790272}"/>
              </a:ext>
            </a:extLst>
          </p:cNvPr>
          <p:cNvSpPr txBox="1"/>
          <p:nvPr/>
        </p:nvSpPr>
        <p:spPr>
          <a:xfrm>
            <a:off x="1784571" y="3015542"/>
            <a:ext cx="9144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to the Problem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satellite, sensor, and weather data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data fusion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accuracy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missing data (clouds)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cloud-proof monitoring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radar (SAR)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methane emissions in real-time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alerts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action </a:t>
            </a:r>
          </a:p>
          <a:p>
            <a:pPr>
              <a:buNone/>
            </a:pPr>
            <a:endParaRPr lang="en-US" sz="2400" dirty="0"/>
          </a:p>
        </p:txBody>
      </p:sp>
      <p:pic>
        <p:nvPicPr>
          <p:cNvPr id="67" name="Picture 66" descr="The image illustrates a complex flowchart detailing various steps in the process of cloud removal in remote sensing imagery, including the use of SAR-Fusion, cloud-free diffusion, and attention mechanisms for image reconstruction.&#10;&#10;AI-generated content may be incorrect.">
            <a:extLst>
              <a:ext uri="{FF2B5EF4-FFF2-40B4-BE49-F238E27FC236}">
                <a16:creationId xmlns:a16="http://schemas.microsoft.com/office/drawing/2014/main" id="{E6F5332F-2733-58FB-6EB4-4542A9D06A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498" y="2853645"/>
            <a:ext cx="5070111" cy="44248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746" y="1572245"/>
            <a:ext cx="17128507" cy="8308731"/>
            <a:chOff x="0" y="0"/>
            <a:chExt cx="842733" cy="408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2733" cy="408795"/>
            </a:xfrm>
            <a:custGeom>
              <a:avLst/>
              <a:gdLst/>
              <a:ahLst/>
              <a:cxnLst/>
              <a:rect l="l" t="t" r="r" b="b"/>
              <a:pathLst>
                <a:path w="842733" h="408795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2124" y="3500388"/>
            <a:ext cx="4276565" cy="3778691"/>
            <a:chOff x="0" y="0"/>
            <a:chExt cx="5702087" cy="5038255"/>
          </a:xfrm>
        </p:grpSpPr>
        <p:sp>
          <p:nvSpPr>
            <p:cNvPr id="6" name="Freeform 6"/>
            <p:cNvSpPr/>
            <p:nvPr/>
          </p:nvSpPr>
          <p:spPr>
            <a:xfrm>
              <a:off x="420319" y="0"/>
              <a:ext cx="4861448" cy="4004822"/>
            </a:xfrm>
            <a:custGeom>
              <a:avLst/>
              <a:gdLst/>
              <a:ahLst/>
              <a:cxnLst/>
              <a:rect l="l" t="t" r="r" b="b"/>
              <a:pathLst>
                <a:path w="4861448" h="4004822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4314679"/>
              <a:ext cx="5702087" cy="723576"/>
            </a:xfrm>
            <a:custGeom>
              <a:avLst/>
              <a:gdLst/>
              <a:ahLst/>
              <a:cxnLst/>
              <a:rect l="l" t="t" r="r" b="b"/>
              <a:pathLst>
                <a:path w="5702087" h="723576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b="-34948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686012" y="287186"/>
            <a:ext cx="1062335" cy="1076626"/>
          </a:xfrm>
          <a:custGeom>
            <a:avLst/>
            <a:gdLst/>
            <a:ahLst/>
            <a:cxnLst/>
            <a:rect l="l" t="t" r="r" b="b"/>
            <a:pathLst>
              <a:path w="1062335" h="1076626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86373" y="213427"/>
            <a:ext cx="15806860" cy="1285059"/>
            <a:chOff x="0" y="0"/>
            <a:chExt cx="21075813" cy="1713411"/>
          </a:xfrm>
        </p:grpSpPr>
        <p:sp>
          <p:nvSpPr>
            <p:cNvPr id="10" name="Freeform 10"/>
            <p:cNvSpPr/>
            <p:nvPr/>
          </p:nvSpPr>
          <p:spPr>
            <a:xfrm>
              <a:off x="0" y="98345"/>
              <a:ext cx="6051549" cy="1542121"/>
            </a:xfrm>
            <a:custGeom>
              <a:avLst/>
              <a:gdLst/>
              <a:ahLst/>
              <a:cxnLst/>
              <a:rect l="l" t="t" r="r" b="b"/>
              <a:pathLst>
                <a:path w="6051549" h="1542121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392625" y="342178"/>
              <a:ext cx="4546876" cy="9662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</a:t>
              </a:r>
            </a:p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IDEA FACTORY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0967" cy="63226"/>
              </a:xfrm>
              <a:custGeom>
                <a:avLst/>
                <a:gdLst/>
                <a:ahLst/>
                <a:cxnLst/>
                <a:rect l="l" t="t" r="r" b="b"/>
                <a:pathLst>
                  <a:path w="540967" h="63226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98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542652" y="434078"/>
              <a:ext cx="13881704" cy="8230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26"/>
                </a:lnSpc>
              </a:pPr>
              <a:r>
                <a:rPr lang="en-US" sz="41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 architechture / workflow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B2318F9-5A00-6D0F-DDD8-9B53FDA63728}"/>
              </a:ext>
            </a:extLst>
          </p:cNvPr>
          <p:cNvSpPr txBox="1"/>
          <p:nvPr/>
        </p:nvSpPr>
        <p:spPr>
          <a:xfrm>
            <a:off x="1066800" y="1626652"/>
            <a:ext cx="9144000" cy="841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b="1" dirty="0"/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Architecture &amp; Logical Flow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(Optical + SAR), IoT Sensors, Weather Data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normalization of data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Fusion: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all data into a single system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Modeling: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data (cloud interference)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&amp; Prediction: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methane emissions and forecast trends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Dashboards, alerts, and decision support </a:t>
            </a:r>
          </a:p>
        </p:txBody>
      </p:sp>
      <p:pic>
        <p:nvPicPr>
          <p:cNvPr id="19" name="Picture 18" descr="The image depicts a data processing flow involving various data sources, including weather, chemical, and pesticides, which are used for statistical analysis, engineering, and machine learning to predict yields.&#10;&#10;AI-generated content may be incorrect.">
            <a:extLst>
              <a:ext uri="{FF2B5EF4-FFF2-40B4-BE49-F238E27FC236}">
                <a16:creationId xmlns:a16="http://schemas.microsoft.com/office/drawing/2014/main" id="{EE6E1082-4888-AFB6-725A-E19A720BCD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4023108"/>
            <a:ext cx="7236465" cy="3624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746" y="1572245"/>
            <a:ext cx="17128507" cy="8308731"/>
            <a:chOff x="0" y="0"/>
            <a:chExt cx="842733" cy="408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2733" cy="408795"/>
            </a:xfrm>
            <a:custGeom>
              <a:avLst/>
              <a:gdLst/>
              <a:ahLst/>
              <a:cxnLst/>
              <a:rect l="l" t="t" r="r" b="b"/>
              <a:pathLst>
                <a:path w="842733" h="408795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05717" y="3254154"/>
            <a:ext cx="4276565" cy="3778691"/>
            <a:chOff x="0" y="0"/>
            <a:chExt cx="5702087" cy="5038255"/>
          </a:xfrm>
        </p:grpSpPr>
        <p:sp>
          <p:nvSpPr>
            <p:cNvPr id="6" name="Freeform 6"/>
            <p:cNvSpPr/>
            <p:nvPr/>
          </p:nvSpPr>
          <p:spPr>
            <a:xfrm>
              <a:off x="420319" y="0"/>
              <a:ext cx="4861448" cy="4004822"/>
            </a:xfrm>
            <a:custGeom>
              <a:avLst/>
              <a:gdLst/>
              <a:ahLst/>
              <a:cxnLst/>
              <a:rect l="l" t="t" r="r" b="b"/>
              <a:pathLst>
                <a:path w="4861448" h="4004822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4314679"/>
              <a:ext cx="5702087" cy="723576"/>
            </a:xfrm>
            <a:custGeom>
              <a:avLst/>
              <a:gdLst/>
              <a:ahLst/>
              <a:cxnLst/>
              <a:rect l="l" t="t" r="r" b="b"/>
              <a:pathLst>
                <a:path w="5702087" h="723576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b="-34948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686012" y="287186"/>
            <a:ext cx="1062335" cy="1076626"/>
          </a:xfrm>
          <a:custGeom>
            <a:avLst/>
            <a:gdLst/>
            <a:ahLst/>
            <a:cxnLst/>
            <a:rect l="l" t="t" r="r" b="b"/>
            <a:pathLst>
              <a:path w="1062335" h="1076626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86373" y="213427"/>
            <a:ext cx="15806860" cy="1285059"/>
            <a:chOff x="0" y="0"/>
            <a:chExt cx="21075813" cy="1713411"/>
          </a:xfrm>
        </p:grpSpPr>
        <p:sp>
          <p:nvSpPr>
            <p:cNvPr id="10" name="Freeform 10"/>
            <p:cNvSpPr/>
            <p:nvPr/>
          </p:nvSpPr>
          <p:spPr>
            <a:xfrm>
              <a:off x="0" y="98345"/>
              <a:ext cx="6051549" cy="1542121"/>
            </a:xfrm>
            <a:custGeom>
              <a:avLst/>
              <a:gdLst/>
              <a:ahLst/>
              <a:cxnLst/>
              <a:rect l="l" t="t" r="r" b="b"/>
              <a:pathLst>
                <a:path w="6051549" h="1542121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392625" y="342178"/>
              <a:ext cx="4136332" cy="9662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</a:t>
              </a:r>
            </a:p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IDEA FACTORY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0967" cy="63226"/>
              </a:xfrm>
              <a:custGeom>
                <a:avLst/>
                <a:gdLst/>
                <a:ahLst/>
                <a:cxnLst/>
                <a:rect l="l" t="t" r="r" b="b"/>
                <a:pathLst>
                  <a:path w="540967" h="63226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98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026816" y="443638"/>
              <a:ext cx="11355123" cy="943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10"/>
                </a:lnSpc>
              </a:pPr>
              <a:r>
                <a:rPr lang="en-US" sz="47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Feasibility &amp; Scalability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48D8151-9480-CED0-E49A-770B006E2E2E}"/>
              </a:ext>
            </a:extLst>
          </p:cNvPr>
          <p:cNvSpPr txBox="1"/>
          <p:nvPr/>
        </p:nvSpPr>
        <p:spPr>
          <a:xfrm>
            <a:off x="864505" y="1772853"/>
            <a:ext cx="9144000" cy="7779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technologies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(AI, IoT, satellite data)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develop as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prototype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datasets and low-cost sensors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run 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systems or cloud platforms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expand from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model → city → national level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large-scale, real-time monitoring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integrate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sensors and data sources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agriculture, industries, and smart cities</a:t>
            </a:r>
            <a:r>
              <a:rPr lang="en-US" sz="2800" dirty="0"/>
              <a:t> </a:t>
            </a:r>
          </a:p>
        </p:txBody>
      </p:sp>
      <p:pic>
        <p:nvPicPr>
          <p:cNvPr id="19" name="Picture 18" descr="The diagram illustrates a comprehensive agricultural monitoring system integrating satellites, drones, ground sensors, cloud platforms, and various mapping technologies to assess crop health, stress, classification, and yield.&#10;&#10;AI-generated content may be incorrect.">
            <a:extLst>
              <a:ext uri="{FF2B5EF4-FFF2-40B4-BE49-F238E27FC236}">
                <a16:creationId xmlns:a16="http://schemas.microsoft.com/office/drawing/2014/main" id="{49C541D8-F83D-9A3D-EDB7-486E80B637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574" y="3529012"/>
            <a:ext cx="6625834" cy="40839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746" y="1572245"/>
            <a:ext cx="17128507" cy="8308731"/>
            <a:chOff x="0" y="0"/>
            <a:chExt cx="842733" cy="408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2733" cy="408795"/>
            </a:xfrm>
            <a:custGeom>
              <a:avLst/>
              <a:gdLst/>
              <a:ahLst/>
              <a:cxnLst/>
              <a:rect l="l" t="t" r="r" b="b"/>
              <a:pathLst>
                <a:path w="842733" h="408795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05717" y="3254154"/>
            <a:ext cx="4276565" cy="3778691"/>
            <a:chOff x="0" y="0"/>
            <a:chExt cx="5702087" cy="5038255"/>
          </a:xfrm>
        </p:grpSpPr>
        <p:sp>
          <p:nvSpPr>
            <p:cNvPr id="6" name="Freeform 6"/>
            <p:cNvSpPr/>
            <p:nvPr/>
          </p:nvSpPr>
          <p:spPr>
            <a:xfrm>
              <a:off x="420319" y="0"/>
              <a:ext cx="4861448" cy="4004822"/>
            </a:xfrm>
            <a:custGeom>
              <a:avLst/>
              <a:gdLst/>
              <a:ahLst/>
              <a:cxnLst/>
              <a:rect l="l" t="t" r="r" b="b"/>
              <a:pathLst>
                <a:path w="4861448" h="4004822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4314679"/>
              <a:ext cx="5702087" cy="723576"/>
            </a:xfrm>
            <a:custGeom>
              <a:avLst/>
              <a:gdLst/>
              <a:ahLst/>
              <a:cxnLst/>
              <a:rect l="l" t="t" r="r" b="b"/>
              <a:pathLst>
                <a:path w="5702087" h="723576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b="-34948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686012" y="287186"/>
            <a:ext cx="1062335" cy="1076626"/>
          </a:xfrm>
          <a:custGeom>
            <a:avLst/>
            <a:gdLst/>
            <a:ahLst/>
            <a:cxnLst/>
            <a:rect l="l" t="t" r="r" b="b"/>
            <a:pathLst>
              <a:path w="1062335" h="1076626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86373" y="213427"/>
            <a:ext cx="15806860" cy="1285059"/>
            <a:chOff x="0" y="0"/>
            <a:chExt cx="21075813" cy="1713411"/>
          </a:xfrm>
        </p:grpSpPr>
        <p:sp>
          <p:nvSpPr>
            <p:cNvPr id="10" name="Freeform 10"/>
            <p:cNvSpPr/>
            <p:nvPr/>
          </p:nvSpPr>
          <p:spPr>
            <a:xfrm>
              <a:off x="0" y="98345"/>
              <a:ext cx="6051549" cy="1542120"/>
            </a:xfrm>
            <a:custGeom>
              <a:avLst/>
              <a:gdLst/>
              <a:ahLst/>
              <a:cxnLst/>
              <a:rect l="l" t="t" r="r" b="b"/>
              <a:pathLst>
                <a:path w="6051549" h="1542121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392625" y="342178"/>
              <a:ext cx="4057081" cy="9662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</a:t>
              </a:r>
            </a:p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IDEA FACTORY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0967" cy="63226"/>
              </a:xfrm>
              <a:custGeom>
                <a:avLst/>
                <a:gdLst/>
                <a:ahLst/>
                <a:cxnLst/>
                <a:rect l="l" t="t" r="r" b="b"/>
                <a:pathLst>
                  <a:path w="540967" h="63226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98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739424" y="367578"/>
              <a:ext cx="10370445" cy="943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10"/>
                </a:lnSpc>
              </a:pPr>
              <a:r>
                <a:rPr lang="en-US" sz="47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tech stack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B860927-D931-CFAD-5F83-BF3E2BF40A1D}"/>
              </a:ext>
            </a:extLst>
          </p:cNvPr>
          <p:cNvSpPr txBox="1"/>
          <p:nvPr/>
        </p:nvSpPr>
        <p:spPr>
          <a:xfrm>
            <a:off x="726112" y="2144598"/>
            <a:ext cx="9144000" cy="4631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Satellite (Optical + SAR), Weather Data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OpenCV, Pandas, Scikit-learn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Arduino/ESP32, MQ-4 Gas Sensor, DHT11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/ Cloud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Multi-Modal Fusion, Stochastic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AI/ML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746" y="1572245"/>
            <a:ext cx="17128507" cy="8308731"/>
            <a:chOff x="0" y="0"/>
            <a:chExt cx="842733" cy="408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2733" cy="408795"/>
            </a:xfrm>
            <a:custGeom>
              <a:avLst/>
              <a:gdLst/>
              <a:ahLst/>
              <a:cxnLst/>
              <a:rect l="l" t="t" r="r" b="b"/>
              <a:pathLst>
                <a:path w="842733" h="408795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05717" y="3254154"/>
            <a:ext cx="4276565" cy="3778691"/>
            <a:chOff x="0" y="0"/>
            <a:chExt cx="5702087" cy="5038255"/>
          </a:xfrm>
        </p:grpSpPr>
        <p:sp>
          <p:nvSpPr>
            <p:cNvPr id="6" name="Freeform 6"/>
            <p:cNvSpPr/>
            <p:nvPr/>
          </p:nvSpPr>
          <p:spPr>
            <a:xfrm>
              <a:off x="420319" y="0"/>
              <a:ext cx="4861448" cy="4004822"/>
            </a:xfrm>
            <a:custGeom>
              <a:avLst/>
              <a:gdLst/>
              <a:ahLst/>
              <a:cxnLst/>
              <a:rect l="l" t="t" r="r" b="b"/>
              <a:pathLst>
                <a:path w="4861448" h="4004822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</a:blip>
              <a:stretch>
                <a:fillRect l="-11082" t="-31562" r="-6294" b="-8229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4314679"/>
              <a:ext cx="5702087" cy="723576"/>
            </a:xfrm>
            <a:custGeom>
              <a:avLst/>
              <a:gdLst/>
              <a:ahLst/>
              <a:cxnLst/>
              <a:rect l="l" t="t" r="r" b="b"/>
              <a:pathLst>
                <a:path w="5702087" h="723576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999"/>
              </a:blip>
              <a:stretch>
                <a:fillRect l="-2499" t="-762883" b="-34948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568345" y="167937"/>
            <a:ext cx="1180002" cy="1195876"/>
          </a:xfrm>
          <a:custGeom>
            <a:avLst/>
            <a:gdLst/>
            <a:ahLst/>
            <a:cxnLst/>
            <a:rect l="l" t="t" r="r" b="b"/>
            <a:pathLst>
              <a:path w="1180002" h="1195876">
                <a:moveTo>
                  <a:pt x="0" y="0"/>
                </a:moveTo>
                <a:lnTo>
                  <a:pt x="1180001" y="0"/>
                </a:lnTo>
                <a:lnTo>
                  <a:pt x="1180001" y="1195876"/>
                </a:lnTo>
                <a:lnTo>
                  <a:pt x="0" y="1195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42265" y="7328982"/>
            <a:ext cx="680347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557941"/>
                </a:solidFill>
                <a:latin typeface="Intro Rust"/>
                <a:ea typeface="Intro Rust"/>
                <a:cs typeface="Intro Rust"/>
                <a:sym typeface="Intro Rust"/>
              </a:rPr>
              <a:t>Thank You</a:t>
            </a:r>
          </a:p>
        </p:txBody>
      </p:sp>
      <p:sp>
        <p:nvSpPr>
          <p:cNvPr id="10" name="Freeform 10"/>
          <p:cNvSpPr/>
          <p:nvPr/>
        </p:nvSpPr>
        <p:spPr>
          <a:xfrm>
            <a:off x="2729137" y="97934"/>
            <a:ext cx="2072115" cy="1335881"/>
          </a:xfrm>
          <a:custGeom>
            <a:avLst/>
            <a:gdLst/>
            <a:ahLst/>
            <a:cxnLst/>
            <a:rect l="l" t="t" r="r" b="b"/>
            <a:pathLst>
              <a:path w="2072115" h="1335881">
                <a:moveTo>
                  <a:pt x="0" y="0"/>
                </a:moveTo>
                <a:lnTo>
                  <a:pt x="2072115" y="0"/>
                </a:lnTo>
                <a:lnTo>
                  <a:pt x="2072115" y="1335881"/>
                </a:lnTo>
                <a:lnTo>
                  <a:pt x="0" y="1335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73734" y="167937"/>
            <a:ext cx="1155403" cy="1155403"/>
          </a:xfrm>
          <a:custGeom>
            <a:avLst/>
            <a:gdLst/>
            <a:ahLst/>
            <a:cxnLst/>
            <a:rect l="l" t="t" r="r" b="b"/>
            <a:pathLst>
              <a:path w="1155403" h="1155403">
                <a:moveTo>
                  <a:pt x="0" y="0"/>
                </a:moveTo>
                <a:lnTo>
                  <a:pt x="1155403" y="0"/>
                </a:lnTo>
                <a:lnTo>
                  <a:pt x="1155403" y="1155402"/>
                </a:lnTo>
                <a:lnTo>
                  <a:pt x="0" y="11554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10" t="-28500" b="-2740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341</Words>
  <Application>Microsoft Office PowerPoint</Application>
  <PresentationFormat>Custom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Intro Rust</vt:lpstr>
      <vt:lpstr>Lastica</vt:lpstr>
      <vt:lpstr>Times New Roman</vt:lpstr>
      <vt:lpstr>Wingdings</vt:lpstr>
      <vt:lpstr>Poppins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sankalp</dc:title>
  <dc:creator>HP</dc:creator>
  <cp:lastModifiedBy>patlemayuri14@outlook.com</cp:lastModifiedBy>
  <cp:revision>4</cp:revision>
  <dcterms:created xsi:type="dcterms:W3CDTF">2006-08-16T00:00:00Z</dcterms:created>
  <dcterms:modified xsi:type="dcterms:W3CDTF">2026-04-17T12:52:35Z</dcterms:modified>
  <dc:identifier>DAHDoZF0yOM</dc:identifier>
</cp:coreProperties>
</file>